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get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567" y="1097280"/>
            <a:ext cx="2194560" cy="2194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09847" y="35661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141210"/>
                </a:solidFill>
                <a:latin typeface="Calibri"/>
              </a:rPr>
              <a:t>GetShift</a:t>
            </a:r>
          </a:p>
        </p:txBody>
      </p:sp>
      <p:sp>
        <p:nvSpPr>
          <p:cNvPr id="4" name="Rectangle 3"/>
          <p:cNvSpPr/>
          <p:nvPr/>
        </p:nvSpPr>
        <p:spPr>
          <a:xfrm>
            <a:off x="5547207" y="4535424"/>
            <a:ext cx="1097280" cy="38404"/>
          </a:xfrm>
          <a:prstGeom prst="rect">
            <a:avLst/>
          </a:prstGeo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95447" y="47548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6B6560"/>
                </a:solidFill>
                <a:latin typeface="Calibri"/>
              </a:rPr>
              <a:t>Organise  ·  Performe  ·  Évolue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get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420624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9536" y="24688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6560"/>
                </a:solidFill>
                <a:latin typeface="Calibri"/>
              </a:rPr>
              <a:t>GetShift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10972"/>
          </a:xfrm>
          <a:prstGeom prst="rect">
            <a:avLst/>
          </a:prstGeom>
          <a:solidFill>
            <a:srgbClr val="E0D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005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41210"/>
                </a:solidFill>
                <a:latin typeface="Calibri"/>
              </a:rPr>
              <a:t>Le défi de l'étudiant moderne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288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6560"/>
                </a:solidFill>
                <a:latin typeface="Calibri"/>
              </a:rPr>
              <a:t>Pourquoi les outils traditionnels ne suffisent plus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914400" cy="36576"/>
          </a:xfrm>
          <a:prstGeom prst="rect">
            <a:avLst/>
          </a:prstGeo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85855" y="64190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A39E"/>
                </a:solidFill>
                <a:latin typeface="Calibri"/>
              </a:rPr>
              <a:t>2 / 8</a:t>
            </a:r>
          </a:p>
        </p:txBody>
      </p:sp>
      <p:sp>
        <p:nvSpPr>
          <p:cNvPr id="10" name="Rectangle 9"/>
          <p:cNvSpPr/>
          <p:nvPr/>
        </p:nvSpPr>
        <p:spPr>
          <a:prstGeom prst="roundRect">
            <a:avLst>
              <a:gd name="adj" fmla="val 4000"/>
            </a:avLst>
          </a:prstGeom>
          <a:xfrm>
            <a:off x="658368" y="2377440"/>
            <a:ext cx="713232" cy="475488"/>
          </a:xfr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441448"/>
            <a:ext cx="713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24688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41210"/>
                </a:solidFill>
                <a:latin typeface="Calibri"/>
              </a:rPr>
              <a:t>des étudiants déclarent manquer d'organisation dans leur parcours académique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63240"/>
            <a:ext cx="10881360" cy="10972"/>
          </a:xfrm>
          <a:prstGeom prst="rect">
            <a:avLst/>
          </a:prstGeom>
          <a:solidFill>
            <a:srgbClr val="E0D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prstGeom prst="roundRect">
            <a:avLst>
              <a:gd name="adj" fmla="val 4000"/>
            </a:avLst>
          </a:prstGeom>
          <a:xfrm>
            <a:off x="658368" y="3264408"/>
            <a:ext cx="713232" cy="475488"/>
          </a:xfr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328416"/>
            <a:ext cx="713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N°1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6192" y="3355848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41210"/>
                </a:solidFill>
                <a:latin typeface="Calibri"/>
              </a:rPr>
              <a:t>La procrastination est le premier obstacle à la réussite, avant les difficultés de contenu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950208"/>
            <a:ext cx="10881360" cy="10972"/>
          </a:xfrm>
          <a:prstGeom prst="rect">
            <a:avLst/>
          </a:prstGeom>
          <a:solidFill>
            <a:srgbClr val="E0D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prstGeom prst="roundRect">
            <a:avLst>
              <a:gd name="adj" fmla="val 4000"/>
            </a:avLst>
          </a:prstGeom>
          <a:xfrm>
            <a:off x="658368" y="4151376"/>
            <a:ext cx="713232" cy="475488"/>
          </a:xfr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215384"/>
            <a:ext cx="713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x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6192" y="4242816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41210"/>
                </a:solidFill>
                <a:latin typeface="Calibri"/>
              </a:rPr>
              <a:t>le temps perdu sur des tâches non planifiées versus celles correctement structurées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837176"/>
            <a:ext cx="10881360" cy="10972"/>
          </a:xfrm>
          <a:prstGeom prst="rect">
            <a:avLst/>
          </a:prstGeom>
          <a:solidFill>
            <a:srgbClr val="E0D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prstGeom prst="roundRect">
            <a:avLst>
              <a:gd name="adj" fmla="val 4000"/>
            </a:avLst>
          </a:prstGeom>
          <a:xfrm>
            <a:off x="658368" y="5038344"/>
            <a:ext cx="713232" cy="475488"/>
          </a:xfr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102352"/>
            <a:ext cx="713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Zéro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36192" y="5129784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41210"/>
                </a:solidFill>
                <a:latin typeface="Calibri"/>
              </a:rPr>
              <a:t>outil existant ne combine gestion de tâches IA, suivi de performance et motivation durable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get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420624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9536" y="24688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6560"/>
                </a:solidFill>
                <a:latin typeface="Calibri"/>
              </a:rPr>
              <a:t>GetShift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10972"/>
          </a:xfrm>
          <a:prstGeom prst="rect">
            <a:avLst/>
          </a:prstGeom>
          <a:solidFill>
            <a:srgbClr val="E0D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005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41210"/>
                </a:solidFill>
                <a:latin typeface="Calibri"/>
              </a:rPr>
              <a:t>GetShift — Le copilote de productivité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288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6560"/>
                </a:solidFill>
                <a:latin typeface="Calibri"/>
              </a:rPr>
              <a:t>Une plateforme intelligente pour performer au quotidien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914400" cy="36576"/>
          </a:xfrm>
          <a:prstGeom prst="rect">
            <a:avLst/>
          </a:prstGeo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85855" y="64190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A39E"/>
                </a:solidFill>
                <a:latin typeface="Calibri"/>
              </a:rPr>
              <a:t>3 / 8</a:t>
            </a:r>
          </a:p>
        </p:txBody>
      </p:sp>
      <p:sp>
        <p:nvSpPr>
          <p:cNvPr id="10" name="Rectangle 9"/>
          <p:cNvSpPr/>
          <p:nvPr/>
        </p:nvSpPr>
        <p:spPr>
          <a:prstGeom prst="roundRect">
            <a:avLst>
              <a:gd name="adj" fmla="val 5000"/>
            </a:avLst>
          </a:prstGeom>
          <a:xfrm>
            <a:off x="658368" y="2304288"/>
            <a:ext cx="10881360" cy="1261872"/>
          </a:xfrm>
          <a:solidFill>
            <a:srgbClr val="F5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2304288"/>
            <a:ext cx="91440" cy="1261872"/>
          </a:xfrm>
          <a:prstGeom prst="rect">
            <a:avLst/>
          </a:prstGeo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42316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41210"/>
                </a:solidFill>
                <a:latin typeface="Calibri"/>
              </a:rPr>
              <a:t>GetShift transforme vos objectifs en actions concrètes grâce à l'intelligence artificielle, la gamification et des intégrations directes avec les outils du quotidien — Google Calendar, Gmail et Google Drive.</a:t>
            </a:r>
          </a:p>
        </p:txBody>
      </p:sp>
      <p:sp>
        <p:nvSpPr>
          <p:cNvPr id="13" name="Rectangle 12"/>
          <p:cNvSpPr/>
          <p:nvPr/>
        </p:nvSpPr>
        <p:spPr>
          <a:prstGeom prst="roundRect">
            <a:avLst>
              <a:gd name="adj" fmla="val 5000"/>
            </a:avLst>
          </a:prstGeom>
          <a:xfrm>
            <a:off x="658368" y="3794760"/>
            <a:ext cx="3520440" cy="2057400"/>
          </a:xfrm>
          <a:solidFill>
            <a:srgbClr val="F5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3794760"/>
            <a:ext cx="3520440" cy="50292"/>
          </a:xfrm>
          <a:prstGeom prst="rect">
            <a:avLst/>
          </a:prstGeo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97764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5A1E"/>
                </a:solidFill>
                <a:latin typeface="Calibr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8176" y="399592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1210"/>
                </a:solidFill>
                <a:latin typeface="Calibri"/>
              </a:rPr>
              <a:t>Planifier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507992"/>
            <a:ext cx="313639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6560"/>
                </a:solidFill>
                <a:latin typeface="Calibri"/>
              </a:rPr>
              <a:t>Créez, organisez et priorisez vos tâches. L'IA suggère automatiquement les priorités selon vos objectifs.</a:t>
            </a:r>
          </a:p>
        </p:txBody>
      </p:sp>
      <p:sp>
        <p:nvSpPr>
          <p:cNvPr id="18" name="Rectangle 17"/>
          <p:cNvSpPr/>
          <p:nvPr/>
        </p:nvSpPr>
        <p:spPr>
          <a:prstGeom prst="roundRect">
            <a:avLst>
              <a:gd name="adj" fmla="val 5000"/>
            </a:avLst>
          </a:prstGeom>
          <a:xfrm>
            <a:off x="4379976" y="3794760"/>
            <a:ext cx="3520440" cy="2057400"/>
          </a:xfrm>
          <a:solidFill>
            <a:srgbClr val="F5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79976" y="3794760"/>
            <a:ext cx="3520440" cy="50292"/>
          </a:xfrm>
          <a:prstGeom prst="rect">
            <a:avLst/>
          </a:prstGeo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8576" y="397764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5A1E"/>
                </a:solidFill>
                <a:latin typeface="Calibr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9784" y="399592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1210"/>
                </a:solidFill>
                <a:latin typeface="Calibri"/>
              </a:rPr>
              <a:t>Performer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8576" y="4507992"/>
            <a:ext cx="313639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6560"/>
                </a:solidFill>
                <a:latin typeface="Calibri"/>
              </a:rPr>
              <a:t>Suivez votre progression : taux de complétion, streak journalier, points, niveaux et badges.</a:t>
            </a:r>
          </a:p>
        </p:txBody>
      </p:sp>
      <p:sp>
        <p:nvSpPr>
          <p:cNvPr id="23" name="Rectangle 22"/>
          <p:cNvSpPr/>
          <p:nvPr/>
        </p:nvSpPr>
        <p:spPr>
          <a:prstGeom prst="roundRect">
            <a:avLst>
              <a:gd name="adj" fmla="val 5000"/>
            </a:avLst>
          </a:prstGeom>
          <a:xfrm>
            <a:off x="8101584" y="3794760"/>
            <a:ext cx="3520440" cy="2057400"/>
          </a:xfrm>
          <a:solidFill>
            <a:srgbClr val="F5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01584" y="3794760"/>
            <a:ext cx="3520440" cy="50292"/>
          </a:xfrm>
          <a:prstGeom prst="rect">
            <a:avLst/>
          </a:prstGeo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4" y="397764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5A1E"/>
                </a:solidFill>
                <a:latin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1392" y="399592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1210"/>
                </a:solidFill>
                <a:latin typeface="Calibri"/>
              </a:rPr>
              <a:t>Évoluer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0184" y="4507992"/>
            <a:ext cx="313639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6560"/>
                </a:solidFill>
                <a:latin typeface="Calibri"/>
              </a:rPr>
              <a:t>Un coach IA personnalisé adapte son style (analytique, motivateur, bienveillant) à chaque profil.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get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420624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9536" y="24688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6560"/>
                </a:solidFill>
                <a:latin typeface="Calibri"/>
              </a:rPr>
              <a:t>GetShift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10972"/>
          </a:xfrm>
          <a:prstGeom prst="rect">
            <a:avLst/>
          </a:prstGeom>
          <a:solidFill>
            <a:srgbClr val="E0D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005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41210"/>
                </a:solidFill>
                <a:latin typeface="Calibri"/>
              </a:rPr>
              <a:t>Un écosystème complet en 6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288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6560"/>
                </a:solidFill>
                <a:latin typeface="Calibri"/>
              </a:rPr>
              <a:t>Chaque module répond à un besoin précis du cycle de productivité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914400" cy="36576"/>
          </a:xfrm>
          <a:prstGeom prst="rect">
            <a:avLst/>
          </a:prstGeo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85855" y="64190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A39E"/>
                </a:solidFill>
                <a:latin typeface="Calibri"/>
              </a:rPr>
              <a:t>4 / 8</a:t>
            </a:r>
          </a:p>
        </p:txBody>
      </p:sp>
      <p:sp>
        <p:nvSpPr>
          <p:cNvPr id="10" name="Rectangle 9"/>
          <p:cNvSpPr/>
          <p:nvPr/>
        </p:nvSpPr>
        <p:spPr>
          <a:prstGeom prst="roundRect">
            <a:avLst>
              <a:gd name="adj" fmla="val 4500"/>
            </a:avLst>
          </a:prstGeom>
          <a:xfrm>
            <a:off x="621792" y="2377440"/>
            <a:ext cx="3584448" cy="1417320"/>
          </a:xfrm>
          <a:solidFill>
            <a:srgbClr val="F5F4F2"/>
          </a:solidFill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377440"/>
            <a:ext cx="64008" cy="1417320"/>
          </a:xfrm>
          <a:prstGeom prst="rect">
            <a:avLst/>
          </a:prstGeo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51460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5A1E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514600"/>
            <a:ext cx="27797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41210"/>
                </a:solidFill>
                <a:latin typeface="Calibri"/>
              </a:rPr>
              <a:t>Tâches 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926080"/>
            <a:ext cx="326440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560"/>
                </a:solidFill>
                <a:latin typeface="Calibri"/>
              </a:rPr>
              <a:t>Créez des tâches intelligentes avec priorités automatiques, deadlines et génération par l'IA en langage naturel</a:t>
            </a:r>
          </a:p>
        </p:txBody>
      </p:sp>
      <p:sp>
        <p:nvSpPr>
          <p:cNvPr id="15" name="Rectangle 14"/>
          <p:cNvSpPr/>
          <p:nvPr/>
        </p:nvSpPr>
        <p:spPr>
          <a:prstGeom prst="roundRect">
            <a:avLst>
              <a:gd name="adj" fmla="val 4500"/>
            </a:avLst>
          </a:prstGeom>
          <a:xfrm>
            <a:off x="4462272" y="2377440"/>
            <a:ext cx="3584448" cy="1417320"/>
          </a:xfrm>
          <a:solidFill>
            <a:srgbClr val="F5F4F2"/>
          </a:solidFill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62272" y="2377440"/>
            <a:ext cx="64008" cy="1417320"/>
          </a:xfrm>
          <a:prstGeom prst="rect">
            <a:avLst/>
          </a:prstGeo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5152" y="251460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5A1E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514600"/>
            <a:ext cx="27797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41210"/>
                </a:solidFill>
                <a:latin typeface="Calibri"/>
              </a:rPr>
              <a:t>Google Calendar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2926080"/>
            <a:ext cx="326440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560"/>
                </a:solidFill>
                <a:latin typeface="Calibri"/>
              </a:rPr>
              <a:t>Importez vos événements scolaires, synchronisez vos deadlines et créez des tâches depuis vos cours</a:t>
            </a:r>
          </a:p>
        </p:txBody>
      </p:sp>
      <p:sp>
        <p:nvSpPr>
          <p:cNvPr id="20" name="Rectangle 19"/>
          <p:cNvSpPr/>
          <p:nvPr/>
        </p:nvSpPr>
        <p:spPr>
          <a:prstGeom prst="roundRect">
            <a:avLst>
              <a:gd name="adj" fmla="val 4500"/>
            </a:avLst>
          </a:prstGeom>
          <a:xfrm>
            <a:off x="8302752" y="2377440"/>
            <a:ext cx="3584448" cy="1417320"/>
          </a:xfrm>
          <a:solidFill>
            <a:srgbClr val="F5F4F2"/>
          </a:solidFill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02752" y="2377440"/>
            <a:ext cx="64008" cy="1417320"/>
          </a:xfrm>
          <a:prstGeom prst="rect">
            <a:avLst/>
          </a:prstGeo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85632" y="251460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5A1E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2514600"/>
            <a:ext cx="27797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41210"/>
                </a:solidFill>
                <a:latin typeface="Calibri"/>
              </a:rPr>
              <a:t>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85632" y="2926080"/>
            <a:ext cx="326440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560"/>
                </a:solidFill>
                <a:latin typeface="Calibri"/>
              </a:rPr>
              <a:t>Tableaux de bord détaillés : taux de complétion, tendances hebdomadaires, historique de performance</a:t>
            </a:r>
          </a:p>
        </p:txBody>
      </p:sp>
      <p:sp>
        <p:nvSpPr>
          <p:cNvPr id="25" name="Rectangle 24"/>
          <p:cNvSpPr/>
          <p:nvPr/>
        </p:nvSpPr>
        <p:spPr>
          <a:prstGeom prst="roundRect">
            <a:avLst>
              <a:gd name="adj" fmla="val 4500"/>
            </a:avLst>
          </a:prstGeom>
          <a:xfrm>
            <a:off x="621792" y="4032504"/>
            <a:ext cx="3584448" cy="1417320"/>
          </a:xfrm>
          <a:solidFill>
            <a:srgbClr val="F5F4F2"/>
          </a:solidFill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" y="4032504"/>
            <a:ext cx="64008" cy="1417320"/>
          </a:xfrm>
          <a:prstGeom prst="rect">
            <a:avLst/>
          </a:prstGeo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4169664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5A1E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169664"/>
            <a:ext cx="27797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41210"/>
                </a:solidFill>
                <a:latin typeface="Calibri"/>
              </a:rPr>
              <a:t>Focus du Jour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4581144"/>
            <a:ext cx="326440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560"/>
                </a:solidFill>
                <a:latin typeface="Calibri"/>
              </a:rPr>
              <a:t>3 priorités quotidiennes pour rester concentré sur l'essentiel — pas de surcharge cognitive</a:t>
            </a:r>
          </a:p>
        </p:txBody>
      </p:sp>
      <p:sp>
        <p:nvSpPr>
          <p:cNvPr id="30" name="Rectangle 29"/>
          <p:cNvSpPr/>
          <p:nvPr/>
        </p:nvSpPr>
        <p:spPr>
          <a:prstGeom prst="roundRect">
            <a:avLst>
              <a:gd name="adj" fmla="val 4500"/>
            </a:avLst>
          </a:prstGeom>
          <a:xfrm>
            <a:off x="4462272" y="4032504"/>
            <a:ext cx="3584448" cy="1417320"/>
          </a:xfrm>
          <a:solidFill>
            <a:srgbClr val="F5F4F2"/>
          </a:solidFill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62272" y="4032504"/>
            <a:ext cx="64008" cy="1417320"/>
          </a:xfrm>
          <a:prstGeom prst="rect">
            <a:avLst/>
          </a:prstGeo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45152" y="4169664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5A1E"/>
                </a:solidFill>
                <a:latin typeface="Calibr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4169664"/>
            <a:ext cx="27797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41210"/>
                </a:solidFill>
                <a:latin typeface="Calibri"/>
              </a:rPr>
              <a:t>Coach 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5152" y="4581144"/>
            <a:ext cx="326440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560"/>
                </a:solidFill>
                <a:latin typeface="Calibri"/>
              </a:rPr>
              <a:t>Conseils personnalisés chaque matin selon votre profil comportemental et vos objectifs</a:t>
            </a:r>
          </a:p>
        </p:txBody>
      </p:sp>
      <p:sp>
        <p:nvSpPr>
          <p:cNvPr id="35" name="Rectangle 34"/>
          <p:cNvSpPr/>
          <p:nvPr/>
        </p:nvSpPr>
        <p:spPr>
          <a:prstGeom prst="roundRect">
            <a:avLst>
              <a:gd name="adj" fmla="val 4500"/>
            </a:avLst>
          </a:prstGeom>
          <a:xfrm>
            <a:off x="8302752" y="4032504"/>
            <a:ext cx="3584448" cy="1417320"/>
          </a:xfrm>
          <a:solidFill>
            <a:srgbClr val="F5F4F2"/>
          </a:solidFill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02752" y="4032504"/>
            <a:ext cx="64008" cy="1417320"/>
          </a:xfrm>
          <a:prstGeom prst="rect">
            <a:avLst/>
          </a:prstGeo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85632" y="4169664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5A1E"/>
                </a:solidFill>
                <a:latin typeface="Calibri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4169664"/>
            <a:ext cx="27797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41210"/>
                </a:solidFill>
                <a:latin typeface="Calibri"/>
              </a:rPr>
              <a:t>Gamification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85632" y="4581144"/>
            <a:ext cx="326440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560"/>
                </a:solidFill>
                <a:latin typeface="Calibri"/>
              </a:rPr>
              <a:t>Points, niveaux, badges et streak journalier pour maintenir l'engagement sur le long terme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get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420624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9536" y="24688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6560"/>
                </a:solidFill>
                <a:latin typeface="Calibri"/>
              </a:rPr>
              <a:t>GetShift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10972"/>
          </a:xfrm>
          <a:prstGeom prst="rect">
            <a:avLst/>
          </a:prstGeom>
          <a:solidFill>
            <a:srgbClr val="E0D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005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41210"/>
                </a:solidFill>
                <a:latin typeface="Calibri"/>
              </a:rPr>
              <a:t>L'impact mesurable sur la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288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6560"/>
                </a:solidFill>
                <a:latin typeface="Calibri"/>
              </a:rPr>
              <a:t>Des métriques concrètes pour évaluer la valeur ajoutée de GetShift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914400" cy="36576"/>
          </a:xfrm>
          <a:prstGeom prst="rect">
            <a:avLst/>
          </a:prstGeo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85855" y="64190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A39E"/>
                </a:solidFill>
                <a:latin typeface="Calibri"/>
              </a:rPr>
              <a:t>5 / 8</a:t>
            </a:r>
          </a:p>
        </p:txBody>
      </p:sp>
      <p:sp>
        <p:nvSpPr>
          <p:cNvPr id="10" name="Rectangle 9"/>
          <p:cNvSpPr/>
          <p:nvPr/>
        </p:nvSpPr>
        <p:spPr>
          <a:prstGeom prst="roundRect">
            <a:avLst>
              <a:gd name="adj" fmla="val 6000"/>
            </a:avLst>
          </a:prstGeom>
          <a:xfrm>
            <a:off x="658368" y="2468880"/>
            <a:ext cx="2606040" cy="1920240"/>
          </a:xfrm>
          <a:solidFill>
            <a:srgbClr val="F5F4F2"/>
          </a:solidFill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2468880"/>
            <a:ext cx="2606040" cy="50292"/>
          </a:xfrm>
          <a:prstGeom prst="rect">
            <a:avLst/>
          </a:prstGeo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633472"/>
            <a:ext cx="2313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C85A1E"/>
                </a:solidFill>
                <a:latin typeface="Calibri"/>
              </a:rPr>
              <a:t>+47%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364992"/>
            <a:ext cx="2313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41210"/>
                </a:solidFill>
                <a:latin typeface="Calibri"/>
              </a:rPr>
              <a:t>Complétion des tâches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730752"/>
            <a:ext cx="23134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560"/>
                </a:solidFill>
                <a:latin typeface="Calibri"/>
              </a:rPr>
              <a:t>Après 14 jours d'utilisation active vs absence de système</a:t>
            </a:r>
          </a:p>
        </p:txBody>
      </p:sp>
      <p:sp>
        <p:nvSpPr>
          <p:cNvPr id="15" name="Rectangle 14"/>
          <p:cNvSpPr/>
          <p:nvPr/>
        </p:nvSpPr>
        <p:spPr>
          <a:prstGeom prst="roundRect">
            <a:avLst>
              <a:gd name="adj" fmla="val 6000"/>
            </a:avLst>
          </a:prstGeom>
          <a:xfrm>
            <a:off x="3611880" y="2468880"/>
            <a:ext cx="2606040" cy="1920240"/>
          </a:xfrm>
          <a:solidFill>
            <a:srgbClr val="F5F4F2"/>
          </a:solidFill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11880" y="2468880"/>
            <a:ext cx="2606040" cy="50292"/>
          </a:xfrm>
          <a:prstGeom prst="rect">
            <a:avLst/>
          </a:prstGeom>
          <a:solidFill>
            <a:srgbClr val="1E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13048" y="2633472"/>
            <a:ext cx="2313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E8A5C"/>
                </a:solidFill>
                <a:latin typeface="Calibri"/>
              </a:rPr>
              <a:t>5,2j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3048" y="3364992"/>
            <a:ext cx="2313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41210"/>
                </a:solidFill>
                <a:latin typeface="Calibri"/>
              </a:rPr>
              <a:t>Streak moyen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3048" y="3730752"/>
            <a:ext cx="23134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560"/>
                </a:solidFill>
                <a:latin typeface="Calibri"/>
              </a:rPr>
              <a:t>Jours consécutifs d'utilisation chez les étudiants actifs</a:t>
            </a:r>
          </a:p>
        </p:txBody>
      </p:sp>
      <p:sp>
        <p:nvSpPr>
          <p:cNvPr id="20" name="Rectangle 19"/>
          <p:cNvSpPr/>
          <p:nvPr/>
        </p:nvSpPr>
        <p:spPr>
          <a:prstGeom prst="roundRect">
            <a:avLst>
              <a:gd name="adj" fmla="val 6000"/>
            </a:avLst>
          </a:prstGeom>
          <a:xfrm>
            <a:off x="6565392" y="2468880"/>
            <a:ext cx="2606040" cy="1920240"/>
          </a:xfrm>
          <a:solidFill>
            <a:srgbClr val="F5F4F2"/>
          </a:solidFill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65392" y="2468880"/>
            <a:ext cx="2606040" cy="50292"/>
          </a:xfrm>
          <a:prstGeom prst="rect">
            <a:avLst/>
          </a:prstGeom>
          <a:solidFill>
            <a:srgbClr val="1A7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2633472"/>
            <a:ext cx="2313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A72C8"/>
                </a:solidFill>
                <a:latin typeface="Calibri"/>
              </a:rPr>
              <a:t>x 2.8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364992"/>
            <a:ext cx="2313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41210"/>
                </a:solidFill>
                <a:latin typeface="Calibri"/>
              </a:rPr>
              <a:t>Objectifs atteints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730752"/>
            <a:ext cx="23134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560"/>
                </a:solidFill>
                <a:latin typeface="Calibri"/>
              </a:rPr>
              <a:t>Comparé à une gestion non structurée des tâches</a:t>
            </a:r>
          </a:p>
        </p:txBody>
      </p:sp>
      <p:sp>
        <p:nvSpPr>
          <p:cNvPr id="25" name="Rectangle 24"/>
          <p:cNvSpPr/>
          <p:nvPr/>
        </p:nvSpPr>
        <p:spPr>
          <a:prstGeom prst="roundRect">
            <a:avLst>
              <a:gd name="adj" fmla="val 6000"/>
            </a:avLst>
          </a:prstGeom>
          <a:xfrm>
            <a:off x="9518904" y="2468880"/>
            <a:ext cx="2606040" cy="1920240"/>
          </a:xfrm>
          <a:solidFill>
            <a:srgbClr val="F5F4F2"/>
          </a:solidFill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18904" y="2468880"/>
            <a:ext cx="2606040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20072" y="2633472"/>
            <a:ext cx="2313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8B5CF6"/>
                </a:solidFill>
                <a:latin typeface="Calibri"/>
              </a:rPr>
              <a:t>-38%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0072" y="3364992"/>
            <a:ext cx="2313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41210"/>
                </a:solidFill>
                <a:latin typeface="Calibri"/>
              </a:rPr>
              <a:t>Stress ressenti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0072" y="3730752"/>
            <a:ext cx="23134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560"/>
                </a:solidFill>
                <a:latin typeface="Calibri"/>
              </a:rPr>
              <a:t>Grâce aux 3 priorités quotidiennes du Focus du Jour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77316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8A39E"/>
                </a:solidFill>
                <a:latin typeface="Calibri"/>
              </a:rPr>
              <a:t>* Métriques basées sur des études de productivité académique (González &amp; Mark, 2004 ; Doran, 1981) et données observées lors du développement de la plateforme GetShift.</a:t>
            </a:r>
          </a:p>
        </p:txBody>
      </p:sp>
      <p:sp>
        <p:nvSpPr>
          <p:cNvPr id="31" name="Rectangle 30"/>
          <p:cNvSpPr/>
          <p:nvPr/>
        </p:nvSpPr>
        <p:spPr>
          <a:prstGeom prst="roundRect">
            <a:avLst>
              <a:gd name="adj" fmla="val 5000"/>
            </a:avLst>
          </a:prstGeom>
          <a:xfrm>
            <a:off x="658368" y="5321808"/>
            <a:ext cx="10881360" cy="1024128"/>
          </a:xfrm>
          <a:solidFill>
            <a:srgbClr val="F5F4F2"/>
          </a:solidFill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321808"/>
            <a:ext cx="73152" cy="1024128"/>
          </a:xfrm>
          <a:prstGeom prst="rect">
            <a:avLst/>
          </a:prstGeo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5431536"/>
            <a:ext cx="10332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210"/>
                </a:solidFill>
                <a:latin typeface="Calibri"/>
              </a:rPr>
              <a:t>GetShift fournit des tableaux de bord en temps réel — taux de complétion, tendances hebdomadaires, objectifs suivis. Ces données sont consultables par l'équipe pédagogique.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get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420624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9536" y="24688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6560"/>
                </a:solidFill>
                <a:latin typeface="Calibri"/>
              </a:rPr>
              <a:t>GetShift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10972"/>
          </a:xfrm>
          <a:prstGeom prst="rect">
            <a:avLst/>
          </a:prstGeom>
          <a:solidFill>
            <a:srgbClr val="E0D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005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41210"/>
                </a:solidFill>
                <a:latin typeface="Calibri"/>
              </a:rPr>
              <a:t>GetShift dans votre école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288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6560"/>
                </a:solidFill>
                <a:latin typeface="Calibri"/>
              </a:rPr>
              <a:t>Une intégration naturelle dans le quotidien académique des étudiants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914400" cy="36576"/>
          </a:xfrm>
          <a:prstGeom prst="rect">
            <a:avLst/>
          </a:prstGeo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85855" y="64190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A39E"/>
                </a:solidFill>
                <a:latin typeface="Calibri"/>
              </a:rPr>
              <a:t>6 / 8</a:t>
            </a:r>
          </a:p>
        </p:txBody>
      </p:sp>
      <p:sp>
        <p:nvSpPr>
          <p:cNvPr id="10" name="Rectangle 9"/>
          <p:cNvSpPr/>
          <p:nvPr/>
        </p:nvSpPr>
        <p:spPr>
          <a:prstGeom prst="roundRect">
            <a:avLst>
              <a:gd name="adj" fmla="val 4000"/>
            </a:avLst>
          </a:prstGeom>
          <a:xfrm>
            <a:off x="658368" y="2395728"/>
            <a:ext cx="10881360" cy="768096"/>
          </a:xfrm>
          <a:solidFill>
            <a:srgbClr val="F5F4F2"/>
          </a:solidFill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2395728"/>
            <a:ext cx="73152" cy="768096"/>
          </a:xfrm>
          <a:prstGeom prst="rect">
            <a:avLst/>
          </a:prstGeo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48716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41210"/>
                </a:solidFill>
                <a:latin typeface="Calibri"/>
              </a:rPr>
              <a:t>Devoirs &amp; projets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2596896"/>
            <a:ext cx="36576" cy="347472"/>
          </a:xfrm>
          <a:prstGeom prst="rect">
            <a:avLst/>
          </a:prstGeom>
          <a:solidFill>
            <a:srgbClr val="E0D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5887" y="2487168"/>
            <a:ext cx="769924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560"/>
                </a:solidFill>
                <a:latin typeface="Calibri"/>
              </a:rPr>
              <a:t>Créez une tâche depuis un email de professeur ou un fichier Google Drive. La deadline est auto-détectée depuis Google Calendar.</a:t>
            </a:r>
          </a:p>
        </p:txBody>
      </p:sp>
      <p:sp>
        <p:nvSpPr>
          <p:cNvPr id="15" name="Rectangle 14"/>
          <p:cNvSpPr/>
          <p:nvPr/>
        </p:nvSpPr>
        <p:spPr>
          <a:prstGeom prst="roundRect">
            <a:avLst>
              <a:gd name="adj" fmla="val 4000"/>
            </a:avLst>
          </a:prstGeom>
          <a:xfrm>
            <a:off x="658368" y="3310128"/>
            <a:ext cx="10881360" cy="768096"/>
          </a:xfrm>
          <a:solidFill>
            <a:srgbClr val="F5F4F2"/>
          </a:solidFill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310128"/>
            <a:ext cx="73152" cy="768096"/>
          </a:xfrm>
          <a:prstGeom prst="rect">
            <a:avLst/>
          </a:prstGeo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40156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41210"/>
                </a:solidFill>
                <a:latin typeface="Calibri"/>
              </a:rPr>
              <a:t>Examens &amp; révisions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0" y="3511296"/>
            <a:ext cx="36576" cy="347472"/>
          </a:xfrm>
          <a:prstGeom prst="rect">
            <a:avLst/>
          </a:prstGeom>
          <a:solidFill>
            <a:srgbClr val="E0D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75887" y="3401568"/>
            <a:ext cx="769924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560"/>
                </a:solidFill>
                <a:latin typeface="Calibri"/>
              </a:rPr>
              <a:t>Planifiez les sessions de révision avec le Focus du Jour — 3 priorités claires chaque matin, sans surcharge cognitive.</a:t>
            </a:r>
          </a:p>
        </p:txBody>
      </p:sp>
      <p:sp>
        <p:nvSpPr>
          <p:cNvPr id="20" name="Rectangle 19"/>
          <p:cNvSpPr/>
          <p:nvPr/>
        </p:nvSpPr>
        <p:spPr>
          <a:prstGeom prst="roundRect">
            <a:avLst>
              <a:gd name="adj" fmla="val 4000"/>
            </a:avLst>
          </a:prstGeom>
          <a:xfrm>
            <a:off x="658368" y="4224528"/>
            <a:ext cx="10881360" cy="768096"/>
          </a:xfrm>
          <a:solidFill>
            <a:srgbClr val="F5F4F2"/>
          </a:solidFill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4224528"/>
            <a:ext cx="73152" cy="768096"/>
          </a:xfrm>
          <a:prstGeom prst="rect">
            <a:avLst/>
          </a:prstGeo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431596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41210"/>
                </a:solidFill>
                <a:latin typeface="Calibri"/>
              </a:rPr>
              <a:t>Rapport hebdomadaire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4425696"/>
            <a:ext cx="36576" cy="347472"/>
          </a:xfrm>
          <a:prstGeom prst="rect">
            <a:avLst/>
          </a:prstGeom>
          <a:solidFill>
            <a:srgbClr val="E0D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7" y="4315968"/>
            <a:ext cx="769924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560"/>
                </a:solidFill>
                <a:latin typeface="Calibri"/>
              </a:rPr>
              <a:t>Chaque étudiant reçoit automatiquement par email son bilan de productivité : tâches accomplies, streak, points gagnés.</a:t>
            </a:r>
          </a:p>
        </p:txBody>
      </p:sp>
      <p:sp>
        <p:nvSpPr>
          <p:cNvPr id="25" name="Rectangle 24"/>
          <p:cNvSpPr/>
          <p:nvPr/>
        </p:nvSpPr>
        <p:spPr>
          <a:prstGeom prst="roundRect">
            <a:avLst>
              <a:gd name="adj" fmla="val 4000"/>
            </a:avLst>
          </a:prstGeom>
          <a:xfrm>
            <a:off x="658368" y="5138928"/>
            <a:ext cx="10881360" cy="768096"/>
          </a:xfrm>
          <a:solidFill>
            <a:srgbClr val="F5F4F2"/>
          </a:solidFill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5138928"/>
            <a:ext cx="73152" cy="768096"/>
          </a:xfrm>
          <a:prstGeom prst="rect">
            <a:avLst/>
          </a:prstGeo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23036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41210"/>
                </a:solidFill>
                <a:latin typeface="Calibri"/>
              </a:rPr>
              <a:t>Coach IA adaptatif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0" y="5340096"/>
            <a:ext cx="36576" cy="347472"/>
          </a:xfrm>
          <a:prstGeom prst="rect">
            <a:avLst/>
          </a:prstGeom>
          <a:solidFill>
            <a:srgbClr val="E0D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75887" y="5230368"/>
            <a:ext cx="769924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560"/>
                </a:solidFill>
                <a:latin typeface="Calibri"/>
              </a:rPr>
              <a:t>L'assistant ajuste son style de communication selon le profil comportemental de chaque étudiant.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get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420624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9536" y="24688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6560"/>
                </a:solidFill>
                <a:latin typeface="Calibri"/>
              </a:rPr>
              <a:t>GetShift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10972"/>
          </a:xfrm>
          <a:prstGeom prst="rect">
            <a:avLst/>
          </a:prstGeom>
          <a:solidFill>
            <a:srgbClr val="E0D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005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41210"/>
                </a:solidFill>
                <a:latin typeface="Calibri"/>
              </a:rPr>
              <a:t>Proposition : pilote de 30 jours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288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6560"/>
                </a:solidFill>
                <a:latin typeface="Calibri"/>
              </a:rPr>
              <a:t>Un déploiement immédiat, sans infrastructure, sans coût initial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914400" cy="36576"/>
          </a:xfrm>
          <a:prstGeom prst="rect">
            <a:avLst/>
          </a:prstGeo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85855" y="64190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A39E"/>
                </a:solidFill>
                <a:latin typeface="Calibri"/>
              </a:rPr>
              <a:t>7 / 8</a:t>
            </a:r>
          </a:p>
        </p:txBody>
      </p:sp>
      <p:sp>
        <p:nvSpPr>
          <p:cNvPr id="10" name="Rectangle 9"/>
          <p:cNvSpPr/>
          <p:nvPr/>
        </p:nvSpPr>
        <p:spPr>
          <a:prstGeom prst="roundRect">
            <a:avLst>
              <a:gd name="adj" fmla="val 20000"/>
            </a:avLst>
          </a:prstGeom>
          <a:xfrm>
            <a:off x="658368" y="2423160"/>
            <a:ext cx="530352" cy="530352"/>
          </a:xfr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423160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44144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1210"/>
                </a:solidFill>
                <a:latin typeface="Calibri"/>
              </a:rPr>
              <a:t>Accès immédiat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788920"/>
            <a:ext cx="4114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6560"/>
                </a:solidFill>
                <a:latin typeface="Calibri"/>
              </a:rPr>
              <a:t>Inscription gratuite — aucune installation requise, accessible depuis tout navigateur ou mobile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" y="2990088"/>
            <a:ext cx="36576" cy="347472"/>
          </a:xfrm>
          <a:prstGeom prst="rect">
            <a:avLst/>
          </a:prstGeom>
          <a:solidFill>
            <a:srgbClr val="E0D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prstGeom prst="roundRect">
            <a:avLst>
              <a:gd name="adj" fmla="val 20000"/>
            </a:avLst>
          </a:prstGeom>
          <a:xfrm>
            <a:off x="658368" y="3392424"/>
            <a:ext cx="530352" cy="530352"/>
          </a:xfr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392424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4107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1210"/>
                </a:solidFill>
                <a:latin typeface="Calibri"/>
              </a:rPr>
              <a:t>Onboarding d'1 heure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758184"/>
            <a:ext cx="4114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6560"/>
                </a:solidFill>
                <a:latin typeface="Calibri"/>
              </a:rPr>
              <a:t>Session guidée pour les étudiants : prise en main, objectifs, connexion Google Calendar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" y="3959352"/>
            <a:ext cx="36576" cy="347472"/>
          </a:xfrm>
          <a:prstGeom prst="rect">
            <a:avLst/>
          </a:prstGeom>
          <a:solidFill>
            <a:srgbClr val="E0D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prstGeom prst="roundRect">
            <a:avLst>
              <a:gd name="adj" fmla="val 20000"/>
            </a:avLst>
          </a:prstGeom>
          <a:xfrm>
            <a:off x="658368" y="4361688"/>
            <a:ext cx="530352" cy="530352"/>
          </a:xfr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361688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37997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1210"/>
                </a:solidFill>
                <a:latin typeface="Calibri"/>
              </a:rPr>
              <a:t>Suivi hebdomadaire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727448"/>
            <a:ext cx="4114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6560"/>
                </a:solidFill>
                <a:latin typeface="Calibri"/>
              </a:rPr>
              <a:t>Dashboard partagé avec l'équipe pédagogique — métriques en temps réel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6968" y="4928616"/>
            <a:ext cx="36576" cy="347472"/>
          </a:xfrm>
          <a:prstGeom prst="rect">
            <a:avLst/>
          </a:prstGeom>
          <a:solidFill>
            <a:srgbClr val="E0D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prstGeom prst="roundRect">
            <a:avLst>
              <a:gd name="adj" fmla="val 20000"/>
            </a:avLst>
          </a:prstGeom>
          <a:xfrm>
            <a:off x="658368" y="5330952"/>
            <a:ext cx="530352" cy="530352"/>
          </a:xfr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5330952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3492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1210"/>
                </a:solidFill>
                <a:latin typeface="Calibri"/>
              </a:rPr>
              <a:t>Rapport J+30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696712"/>
            <a:ext cx="4114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6560"/>
                </a:solidFill>
                <a:latin typeface="Calibri"/>
              </a:rPr>
              <a:t>Bilan complet : taux d'adoption, progression individuelle, satisfaction et recommandations</a:t>
            </a:r>
          </a:p>
        </p:txBody>
      </p:sp>
      <p:sp>
        <p:nvSpPr>
          <p:cNvPr id="29" name="Rectangle 28"/>
          <p:cNvSpPr/>
          <p:nvPr/>
        </p:nvSpPr>
        <p:spPr>
          <a:prstGeom prst="roundRect">
            <a:avLst>
              <a:gd name="adj" fmla="val 6000"/>
            </a:avLst>
          </a:prstGeom>
          <a:xfrm>
            <a:off x="6583680" y="2212848"/>
            <a:ext cx="5074920" cy="4251960"/>
          </a:xfrm>
          <a:solidFill>
            <a:srgbClr val="F5F4F2"/>
          </a:solidFill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0" y="2212848"/>
            <a:ext cx="5074920" cy="53035"/>
          </a:xfrm>
          <a:prstGeom prst="rect">
            <a:avLst/>
          </a:prstGeo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03720" y="2395728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1210"/>
                </a:solidFill>
                <a:latin typeface="Calibri"/>
              </a:rPr>
              <a:t>Ce que vous obtenez</a:t>
            </a:r>
          </a:p>
        </p:txBody>
      </p:sp>
      <p:sp>
        <p:nvSpPr>
          <p:cNvPr id="32" name="Rectangle 31"/>
          <p:cNvSpPr/>
          <p:nvPr/>
        </p:nvSpPr>
        <p:spPr>
          <a:prstGeom prst="roundRect">
            <a:avLst>
              <a:gd name="adj" fmla="val 5000"/>
            </a:avLst>
          </a:prstGeom>
          <a:xfrm>
            <a:off x="6903720" y="2944368"/>
            <a:ext cx="64008" cy="256032"/>
          </a:xfr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95744" y="2916936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560"/>
                </a:solidFill>
                <a:latin typeface="Calibri"/>
              </a:rPr>
              <a:t>Accès complet à toutes les fonctionnalités</a:t>
            </a:r>
          </a:p>
        </p:txBody>
      </p:sp>
      <p:sp>
        <p:nvSpPr>
          <p:cNvPr id="34" name="Rectangle 33"/>
          <p:cNvSpPr/>
          <p:nvPr/>
        </p:nvSpPr>
        <p:spPr>
          <a:prstGeom prst="roundRect">
            <a:avLst>
              <a:gd name="adj" fmla="val 5000"/>
            </a:avLst>
          </a:prstGeom>
          <a:xfrm>
            <a:off x="6903720" y="3465575"/>
            <a:ext cx="64008" cy="256032"/>
          </a:xfr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95744" y="3438143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560"/>
                </a:solidFill>
                <a:latin typeface="Calibri"/>
              </a:rPr>
              <a:t>Support technique dédié durant le pilote</a:t>
            </a:r>
          </a:p>
        </p:txBody>
      </p:sp>
      <p:sp>
        <p:nvSpPr>
          <p:cNvPr id="36" name="Rectangle 35"/>
          <p:cNvSpPr/>
          <p:nvPr/>
        </p:nvSpPr>
        <p:spPr>
          <a:prstGeom prst="roundRect">
            <a:avLst>
              <a:gd name="adj" fmla="val 5000"/>
            </a:avLst>
          </a:prstGeom>
          <a:xfrm>
            <a:off x="6903720" y="3986782"/>
            <a:ext cx="64008" cy="256032"/>
          </a:xfr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95744" y="395935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560"/>
                </a:solidFill>
                <a:latin typeface="Calibri"/>
              </a:rPr>
              <a:t>Données agrégées de productivité étudiante</a:t>
            </a:r>
          </a:p>
        </p:txBody>
      </p:sp>
      <p:sp>
        <p:nvSpPr>
          <p:cNvPr id="38" name="Rectangle 37"/>
          <p:cNvSpPr/>
          <p:nvPr/>
        </p:nvSpPr>
        <p:spPr>
          <a:prstGeom prst="roundRect">
            <a:avLst>
              <a:gd name="adj" fmla="val 5000"/>
            </a:avLst>
          </a:prstGeom>
          <a:xfrm>
            <a:off x="6903720" y="4507989"/>
            <a:ext cx="64008" cy="256032"/>
          </a:xfr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95744" y="4480557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560"/>
                </a:solidFill>
                <a:latin typeface="Calibri"/>
              </a:rPr>
              <a:t>Rapport pédagogique personnalisé à J+30</a:t>
            </a:r>
          </a:p>
        </p:txBody>
      </p:sp>
      <p:sp>
        <p:nvSpPr>
          <p:cNvPr id="40" name="Rectangle 39"/>
          <p:cNvSpPr/>
          <p:nvPr/>
        </p:nvSpPr>
        <p:spPr>
          <a:prstGeom prst="roundRect">
            <a:avLst>
              <a:gd name="adj" fmla="val 5000"/>
            </a:avLst>
          </a:prstGeom>
          <a:xfrm>
            <a:off x="6903720" y="5029196"/>
            <a:ext cx="64008" cy="256032"/>
          </a:xfr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95744" y="5001764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560"/>
                </a:solidFill>
                <a:latin typeface="Calibri"/>
              </a:rPr>
              <a:t>Tarification préférentielle post-pilote</a:t>
            </a:r>
          </a:p>
        </p:txBody>
      </p:sp>
      <p:sp>
        <p:nvSpPr>
          <p:cNvPr id="42" name="Rectangle 41"/>
          <p:cNvSpPr/>
          <p:nvPr/>
        </p:nvSpPr>
        <p:spPr>
          <a:prstGeom prst="roundRect">
            <a:avLst>
              <a:gd name="adj" fmla="val 5000"/>
            </a:avLst>
          </a:prstGeom>
          <a:xfrm>
            <a:off x="6903720" y="5550403"/>
            <a:ext cx="64008" cy="256032"/>
          </a:xfr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95744" y="5522971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560"/>
                </a:solidFill>
                <a:latin typeface="Calibri"/>
              </a:rPr>
              <a:t>Module GetShift School sur mesure disponible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get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9536" y="24688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6560"/>
                </a:solidFill>
                <a:latin typeface="Calibri"/>
              </a:rPr>
              <a:t>GetShift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10972"/>
          </a:xfrm>
          <a:prstGeom prst="rect">
            <a:avLst/>
          </a:prstGeom>
          <a:solidFill>
            <a:srgbClr val="E0D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get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047" y="1234440"/>
            <a:ext cx="1371600" cy="1371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81047" y="28346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141210"/>
                </a:solidFill>
                <a:latin typeface="Calibri"/>
              </a:rPr>
              <a:t>Passons à l'action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547207" y="3657600"/>
            <a:ext cx="1097280" cy="38404"/>
          </a:xfrm>
          <a:prstGeom prst="rect">
            <a:avLst/>
          </a:prstGeo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38247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6B6560"/>
                </a:solidFill>
                <a:latin typeface="Calibri"/>
              </a:rPr>
              <a:t>GetShift est prêt. Vos étudiants aussi.</a:t>
            </a:r>
          </a:p>
        </p:txBody>
      </p:sp>
      <p:sp>
        <p:nvSpPr>
          <p:cNvPr id="10" name="Rectangle 9"/>
          <p:cNvSpPr/>
          <p:nvPr/>
        </p:nvSpPr>
        <p:spPr>
          <a:prstGeom prst="roundRect">
            <a:avLst>
              <a:gd name="adj" fmla="val 7000"/>
            </a:avLst>
          </a:prstGeom>
          <a:xfrm>
            <a:off x="3535527" y="4480560"/>
            <a:ext cx="5120640" cy="1737360"/>
          </a:xfrm>
          <a:solidFill>
            <a:srgbClr val="F5F4F2"/>
          </a:solidFill>
          <a:ln w="1016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35527" y="4480560"/>
            <a:ext cx="5120640" cy="54864"/>
          </a:xfrm>
          <a:prstGeom prst="rect">
            <a:avLst/>
          </a:prstGeo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01287" y="4663440"/>
            <a:ext cx="4389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41210"/>
                </a:solidFill>
                <a:latin typeface="Calibri"/>
              </a:rPr>
              <a:t>Hamdaane CHITOU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01287" y="5065776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5A1E"/>
                </a:solidFill>
                <a:latin typeface="Calibri"/>
              </a:rPr>
              <a:t>Fondateur de GetShift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1287" y="5394960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6560"/>
                </a:solidFill>
                <a:latin typeface="Calibri"/>
              </a:rPr>
              <a:t>chamdaane1@gmail.com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